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  <p:embeddedFont>
      <p:font typeface="Urbanist" panose="020B0604020202020204" charset="0"/>
      <p:regular r:id="rId23"/>
      <p:bold r:id="rId24"/>
      <p:italic r:id="rId25"/>
      <p:boldItalic r:id="rId26"/>
    </p:embeddedFont>
    <p:embeddedFont>
      <p:font typeface="Wingdings 3" panose="05040102010807070707" pitchFamily="18" charset="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5B9D88-7989-4C3D-954E-C12AF413DC40}">
  <a:tblStyle styleId="{F85B9D88-7989-4C3D-954E-C12AF413DC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7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7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01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3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4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4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3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8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366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395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63284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118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186113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91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5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0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mylcoder/AI-Project-Lab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775334" y="983386"/>
            <a:ext cx="1064133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RESUME</a:t>
            </a: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PARSER</a:t>
            </a: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AI PROJECT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85998" y="2295938"/>
            <a:ext cx="7620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Streamlining Recruitment with Advanced Natural Language Processing and Machine Learning Classifiers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024311" y="3674865"/>
            <a:ext cx="4143375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BS-Computer Science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| 5th Semester Final Project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MEMBERS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Fazal </a:t>
            </a:r>
            <a:r>
              <a:rPr lang="en-US" sz="1500" b="0" i="0" u="sng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Ud Deen Hashmi  (01-134241-011)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Muhammad Shamyl (01-134232-133)_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sng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Syed Rayyan Shah Bokhari (01-134241-044)</a:t>
            </a:r>
            <a:endParaRPr lang="en-US" sz="1500" b="0" i="0" u="none" strike="noStrike" cap="none" dirty="0">
              <a:solidFill>
                <a:srgbClr val="DAFFDE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962025" y="2495550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Skimming Efficiency: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Recruiters spend an average of only 6 seconds per resume.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171825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Data Overload: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Hundreds of applications for a single position require automated filtering.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848100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Anti-Spam Filtering: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Modern AI must identify skilled candidates while filtering out "keyword stuffing."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524375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Contextual Understanding: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Moving beyond simple keyword matching to semantic skill grouping.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CHALLENGE: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RECRUITMENT AT SCALE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495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171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848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524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AI Resume Parser for Efficient Hiring | Docparser">
            <a:extLst>
              <a:ext uri="{FF2B5EF4-FFF2-40B4-BE49-F238E27FC236}">
                <a16:creationId xmlns:a16="http://schemas.microsoft.com/office/drawing/2014/main" id="{A06A4AA6-236E-DF25-2E2B-B52D53529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400" y="2008856"/>
            <a:ext cx="5205575" cy="3553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509837"/>
            <a:ext cx="3549699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21224" y="2509837"/>
            <a:ext cx="3549699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1424" y="2509837"/>
            <a:ext cx="3549699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2321" y="3452812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Python Core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3824287"/>
            <a:ext cx="295914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The backend foundation leveraging Pandas and NumPy for efficient data manipulation and array processing.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542520" y="3452812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NLTK &amp; Scikit-Learn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616499" y="3824287"/>
            <a:ext cx="295914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NLTK for text preprocessing (tokenization, lemmatization) and Scikit-Learn for the KNN classifier and vectorizer.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282720" y="3452812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Tkinter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 GUI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356699" y="3824287"/>
            <a:ext cx="295914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A desktop-based interface providing seamless user interaction for dataset loading and resume analysis.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9112" y="28432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0" y="28432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1887" y="284321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TECHNOLOGICAL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967037"/>
            <a:ext cx="527685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4" y="3874144"/>
            <a:ext cx="1613535" cy="855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1025" y="2693044"/>
            <a:ext cx="52768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Term Frequency (TF)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measures how frequently a specific term occurs in a single resume. It represents the "local importance" of a word.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81025" y="4789884"/>
            <a:ext cx="52768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Where f(t,d) is the count of term t in document d.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90360" y="3257549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Key Insight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629400" y="3633787"/>
            <a:ext cx="46863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If a word like </a:t>
            </a:r>
            <a:r>
              <a:rPr lang="en-US" sz="1500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15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r>
              <a:rPr lang="en-US" sz="1500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appears many times in a resume, the TF score increases, signaling that the candidate might have high expertise in that skill.</a:t>
            </a:r>
            <a:endParaRPr dirty="0"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4074169"/>
            <a:ext cx="1089953" cy="525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2813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UNDERSTANDING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TERM FREQUENCY (TF)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967037"/>
            <a:ext cx="5276850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1025" y="2464593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Inverse Document Frequency (IDF)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penalizes common words (like "the", "and") across the entire collection of resumes.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3993356"/>
            <a:ext cx="52768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The Relation: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The final weight is the product of both scores.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629400" y="3262312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Why it works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629400" y="3633787"/>
            <a:ext cx="46863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Stop words appear in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every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document, making their IDF near zero. Rare technical skills appear in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few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documents, maximizing their relevance.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49" y="3426618"/>
            <a:ext cx="2285707" cy="433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4688681"/>
            <a:ext cx="2764008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2813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IDF &amp;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THE TF-IDF RELATION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962025" y="2824162"/>
            <a:ext cx="10648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Lowercase Conversion: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Standardizing text to ensure "Python" and "python" are treated identically.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62025" y="3233737"/>
            <a:ext cx="10648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Noise Removal: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Using Regular Expressions (Regex) to strip URLs, emails, numbers, and special characters.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62025" y="3643312"/>
            <a:ext cx="10648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Tokenization: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Breaking long blocks of text into individual units or "tokens."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62025" y="4052887"/>
            <a:ext cx="10648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Stopword Removal: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Filtering out non-informative words using the NLTK English stopword corpus.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62025" y="4462462"/>
            <a:ext cx="10648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Lemmatization: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Reducing words to their root form (e.g., "Designing" becomes "Design") using WordNetLemmatizer.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PREPROCESSING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PIPELINE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8241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2337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643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052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4624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4169568"/>
            <a:ext cx="67437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638175" y="1775222"/>
            <a:ext cx="70808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Why KNN for Text?</a:t>
            </a:r>
            <a:endParaRPr sz="2800"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638175" y="2614612"/>
            <a:ext cx="6743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K-Nearest Neighbors (KNN)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algorithm is highly effective for text classification once resumes are converted into numerical vectors in a feature space.</a:t>
            </a:r>
            <a:endParaRPr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971550" y="4369593"/>
            <a:ext cx="6343650" cy="10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Non-Parametric: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Makes no assumptions about data distribution.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Similarity-Based: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Resumes with similar skills naturally cluster together.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Voting: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We use 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K=5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, meaning the model looks at the 5 closest resumes to decide the category.</a:t>
            </a:r>
            <a:endParaRPr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ML MODEL: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K-NEAREST NEIGHBORS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771525" y="581025"/>
            <a:ext cx="4990623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81025" y="581025"/>
            <a:ext cx="57150" cy="1104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62025" y="1971675"/>
            <a:ext cx="45624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User Input: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Raw resume text provided via GUI.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62025" y="2381250"/>
            <a:ext cx="45624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Preprocessing: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NLTK cleaning pipeline.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962025" y="2790825"/>
            <a:ext cx="4562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Vectorization: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TF-IDF transformation into 1500 features.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62025" y="3467100"/>
            <a:ext cx="45624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Classifier: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Trained KNN model predicts category.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962025" y="3876675"/>
            <a:ext cx="45624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Result display with scores and charts.</a:t>
            </a:r>
            <a:endParaRPr/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971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381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790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467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876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9D4E77-5FF1-518E-0779-B99C9DA88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465" y="961675"/>
            <a:ext cx="6001588" cy="5010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7100" y="2628900"/>
            <a:ext cx="814387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81025" y="3090862"/>
            <a:ext cx="24098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0-10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81025" y="4329112"/>
            <a:ext cx="24098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Weightage Score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3762375" y="2924175"/>
            <a:ext cx="793099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Probability Scaling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3762375" y="3295650"/>
            <a:ext cx="75533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The score is derived from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KNN Prediction Confidence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. If all 5 neighbors agree on a category, the confidence is 1.0, yielding a perfect 10/10 score.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3762375" y="3971925"/>
            <a:ext cx="75533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Score ≥ 7: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Strong Candidate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Score ≥ 4: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Moderate Candidate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Score &lt; 4: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Weak Candidate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SCORING &amp;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CONFIDENCE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19225"/>
            <a:ext cx="1102995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81025" y="4738687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Note: Lower accuracy is expected due to 28 high-similarity job categories sharing overlapping technical vocabulary.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PERFORMANCE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p23"/>
          <p:cNvGraphicFramePr/>
          <p:nvPr>
            <p:extLst>
              <p:ext uri="{D42A27DB-BD31-4B8C-83A1-F6EECF244321}">
                <p14:modId xmlns:p14="http://schemas.microsoft.com/office/powerpoint/2010/main" val="2718966705"/>
              </p:ext>
            </p:extLst>
          </p:nvPr>
        </p:nvGraphicFramePr>
        <p:xfrm>
          <a:off x="581025" y="2300287"/>
          <a:ext cx="11029950" cy="309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accent1"/>
                          </a:solidFill>
                          <a:sym typeface="Lato"/>
                        </a:rPr>
                        <a:t>Feature</a:t>
                      </a:r>
                      <a:endParaRPr dirty="0"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accent1"/>
                          </a:solidFill>
                          <a:sym typeface="Lato"/>
                        </a:rPr>
                        <a:t>Detail</a:t>
                      </a:r>
                      <a:endParaRPr dirty="0"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DAFFDE"/>
                          </a:solidFill>
                          <a:sym typeface="Lato"/>
                        </a:rPr>
                        <a:t>Source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DAFFDE"/>
                          </a:solidFill>
                          <a:sym typeface="Lato"/>
                        </a:rPr>
                        <a:t>Kaggle Resume Dataset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DAFFDE"/>
                          </a:solidFill>
                          <a:sym typeface="Lato"/>
                        </a:rPr>
                        <a:t>Record Count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DAFFDE"/>
                          </a:solidFill>
                          <a:sym typeface="Lato"/>
                        </a:rPr>
                        <a:t>9,544 Resumes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DAFFDE"/>
                          </a:solidFill>
                          <a:sym typeface="Lato"/>
                        </a:rPr>
                        <a:t>Job Categories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DAFFDE"/>
                          </a:solidFill>
                          <a:sym typeface="Lato"/>
                        </a:rPr>
                        <a:t>28 (Data Science, Java Dev, HR, etc.)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DAFFDE"/>
                          </a:solidFill>
                          <a:sym typeface="Lato"/>
                        </a:rPr>
                        <a:t>Target Variable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DAFFDE"/>
                          </a:solidFill>
                          <a:sym typeface="Lato"/>
                        </a:rPr>
                        <a:t>job_position_name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DAFFDE"/>
                          </a:solidFill>
                          <a:sym typeface="Lato"/>
                        </a:rPr>
                        <a:t>Train/Test Split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rgbClr val="DAFFDE"/>
                          </a:solidFill>
                          <a:sym typeface="Lato"/>
                        </a:rPr>
                        <a:t>80% Training / 20% Testing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0" name="Google Shape;230;p23"/>
          <p:cNvSpPr/>
          <p:nvPr/>
        </p:nvSpPr>
        <p:spPr>
          <a:xfrm>
            <a:off x="581025" y="2843212"/>
            <a:ext cx="358899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170015" y="2843212"/>
            <a:ext cx="744095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81025" y="3362325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4170015" y="3362325"/>
            <a:ext cx="74409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81025" y="3867150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170015" y="3867150"/>
            <a:ext cx="74409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81025" y="4371975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4170015" y="4371975"/>
            <a:ext cx="74409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81025" y="4876800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4170015" y="4876800"/>
            <a:ext cx="74409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81025" y="5381625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4170015" y="5381625"/>
            <a:ext cx="74409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DATASET 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SUMMARY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2740580" y="2223194"/>
            <a:ext cx="671083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4395787" y="3518594"/>
            <a:ext cx="34004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 lang="en-US" dirty="0"/>
          </a:p>
        </p:txBody>
      </p:sp>
      <p:sp>
        <p:nvSpPr>
          <p:cNvPr id="251" name="Google Shape;251;p24"/>
          <p:cNvSpPr txBox="1"/>
          <p:nvPr/>
        </p:nvSpPr>
        <p:spPr>
          <a:xfrm>
            <a:off x="3181350" y="4368105"/>
            <a:ext cx="5829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E39A5-121C-16A3-3B06-CB07D64AA012}"/>
              </a:ext>
            </a:extLst>
          </p:cNvPr>
          <p:cNvSpPr txBox="1"/>
          <p:nvPr/>
        </p:nvSpPr>
        <p:spPr>
          <a:xfrm>
            <a:off x="1532068" y="4368105"/>
            <a:ext cx="84807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u="none" strike="noStrike" dirty="0">
                <a:solidFill>
                  <a:srgbClr val="DAFFDE"/>
                </a:solidFill>
                <a:effectLst/>
                <a:latin typeface="Urbanist" panose="020B0604020202020204" charset="0"/>
              </a:rPr>
              <a:t>Project GitHub Repository</a:t>
            </a:r>
            <a:r>
              <a:rPr lang="en-US" sz="1800" i="0" u="none" strike="noStrike" dirty="0">
                <a:solidFill>
                  <a:srgbClr val="DAFFDE"/>
                </a:solidFill>
                <a:effectLst/>
                <a:latin typeface="Urbanist" panose="020B0604020202020204" charset="0"/>
              </a:rPr>
              <a:t> : </a:t>
            </a:r>
            <a:r>
              <a:rPr lang="en-US" dirty="0">
                <a:solidFill>
                  <a:srgbClr val="DEFF9A"/>
                </a:solidFill>
                <a:latin typeface="Urbanist" panose="020B0604020202020204" charset="0"/>
                <a:hlinkClick r:id="rId3"/>
              </a:rPr>
              <a:t>https://github.com/shamylcoder/AI-Project-Lab</a:t>
            </a:r>
            <a:endParaRPr lang="en-US" dirty="0">
              <a:solidFill>
                <a:srgbClr val="DEFF9A"/>
              </a:solidFill>
              <a:latin typeface="Urbanist" panose="020B0604020202020204" charset="0"/>
            </a:endParaRPr>
          </a:p>
          <a:p>
            <a:pPr algn="ctr"/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681</Words>
  <Application>Microsoft Office PowerPoint</Application>
  <PresentationFormat>Widescreen</PresentationFormat>
  <Paragraphs>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Wingdings 3</vt:lpstr>
      <vt:lpstr>Urbanist</vt:lpstr>
      <vt:lpstr>Lato</vt:lpstr>
      <vt:lpstr>Trebuchet MS</vt:lpstr>
      <vt:lpstr>Calibri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01-134232-133</cp:lastModifiedBy>
  <cp:revision>1</cp:revision>
  <dcterms:modified xsi:type="dcterms:W3CDTF">2026-05-19T09:24:54Z</dcterms:modified>
</cp:coreProperties>
</file>